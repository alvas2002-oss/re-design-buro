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32320" cy="630936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0" y="0"/>
            <a:ext cx="5059375" cy="630936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274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FFFFFF"/>
                </a:solidFill>
                <a:latin typeface="Cormorant Garamond"/>
              </a:rPr>
              <a:t>RE</a:t>
            </a:r>
            <a:r>
              <a:rPr sz="2200">
                <a:solidFill>
                  <a:srgbClr val="B8965A"/>
                </a:solidFill>
                <a:latin typeface="Cormorant Garamon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79552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2"/>
                </a:solidFill>
                <a:latin typeface="Inter"/>
              </a:rPr>
              <a:t>ИНЖЕНЕРНЫЙ РЕМОНТ · СТОИМОСТЬ РАБОТ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024128"/>
            <a:ext cx="502920" cy="22860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972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0EDE8"/>
                </a:solidFill>
                <a:latin typeface="Cormorant Garamond"/>
              </a:rPr>
              <a:t>Ориентировочная стоимость инженерных работ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719072"/>
            <a:ext cx="6400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0" b="0" i="0">
                <a:solidFill>
                  <a:srgbClr val="B8965A"/>
                </a:solidFill>
                <a:latin typeface="Cormorant Garamond"/>
              </a:rPr>
              <a:t>1 879 200 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6446520" cy="16459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7889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EDE8"/>
                </a:solidFill>
                <a:latin typeface="Inter"/>
              </a:rPr>
              <a:t>Финансовая модель построена на вашем контроле. Мы не просим денег вперёд.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1821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BB4AC"/>
                </a:solidFill>
                <a:latin typeface="Inter"/>
              </a:rPr>
              <a:t>Вы платите за то, что уже сделано, согласовано и принято. Благодаря этому: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547872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F0EDE8"/>
                </a:solidFill>
                <a:latin typeface="Inter"/>
              </a:rPr>
              <a:t>Вы не платите «вперёд за всё»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F0EDE8"/>
                </a:solidFill>
                <a:latin typeface="Inter"/>
              </a:rPr>
              <a:t>Вы не кредитуете компанию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F0EDE8"/>
                </a:solidFill>
                <a:latin typeface="Inter"/>
              </a:rPr>
              <a:t>Вы рассчитываетесь за уже сделанное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73152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A1714"/>
                </a:solidFill>
                <a:latin typeface="Cormorant Garamond"/>
              </a:rPr>
              <a:t>После инженерного ремонта
вы получаете: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627632"/>
            <a:ext cx="548640" cy="27432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7830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645C50"/>
                </a:solidFill>
                <a:latin typeface="Inter"/>
              </a:rPr>
              <a:t>Ровную геометрию помещений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645C50"/>
                </a:solidFill>
                <a:latin typeface="Inter"/>
              </a:rPr>
              <a:t>Готовые инженерные системы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645C50"/>
                </a:solidFill>
                <a:latin typeface="Inter"/>
              </a:rPr>
              <a:t>Проверенную сантехнику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645C50"/>
                </a:solidFill>
                <a:latin typeface="Inter"/>
              </a:rPr>
              <a:t>Проверенную электрику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645C50"/>
                </a:solidFill>
                <a:latin typeface="Inter"/>
              </a:rPr>
              <a:t>Отсутствие скрытых дефектов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B8965A"/>
                </a:solidFill>
                <a:latin typeface="Inter"/>
              </a:rPr>
              <a:t>—   </a:t>
            </a:r>
            <a:r>
              <a:rPr sz="1300" b="0">
                <a:solidFill>
                  <a:srgbClr val="645C50"/>
                </a:solidFill>
                <a:latin typeface="Inter"/>
              </a:rPr>
              <a:t>Готовность к чистовой отделке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36792"/>
            <a:ext cx="103628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"/>
              </a:rPr>
              <a:t>Это не «почти готово». Это готово к чистовой отделке без доработок.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6A62"/>
                </a:solidFill>
                <a:latin typeface="Inter"/>
              </a:rP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560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1A1714"/>
                </a:solidFill>
                <a:latin typeface="Cormorant Garamond"/>
              </a:rPr>
              <a:t>RE</a:t>
            </a:r>
            <a:r>
              <a:rPr sz="2200">
                <a:solidFill>
                  <a:srgbClr val="B8965A"/>
                </a:solidFill>
                <a:latin typeface="Cormorant Garamon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498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0A898"/>
                </a:solidFill>
                <a:latin typeface="Inter"/>
              </a:rPr>
              <a:t>ИНЖЕНЕРНЫЙ РЕМОНТ · СОСТАВ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987552"/>
            <a:ext cx="7315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A1714"/>
                </a:solidFill>
                <a:latin typeface="Cormorant Garamond"/>
              </a:rPr>
              <a:t>В инженерный ремонт входит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737360"/>
            <a:ext cx="822960" cy="36576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1874519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938527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7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ПОДГОТОВИТЕЛЬНЫЙ ЭТАП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176272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Организация защиты: укрытие оконных и дверных конструкций, мест общего пользования. Устройство временного электроснабжения и водоотведения.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7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38527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МОНТАЖ ВНУТРЕННИХ ПЕРЕГОРОДОК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76272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Формирование новой объемно-планировочной структуры помещений в строгом соответствии с проектной документацией.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3072384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136391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36391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ВЫРАВНИВАНИЕ СТЕНОВЫХ ПОВЕРХНОСТЕЙ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3374136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Профессиональная механизированная штукатурка стен с подготовкой под отделочный этап.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072384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136391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136391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ЭЛЕКТРОМОНТАЖНЫЕ РАБОТЫ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74136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Прокладка силовых и слаботочных линий с разделением по группам потребления.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4270248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3342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34256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МОНТАЖ СИСТЕМЫ ВОДОСНАБЖЕНИЯ И КАНАЛИЗАЦИИ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4572000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Инженерная разводка сантехнических коммуникаций с соблюдением нормативов и проектных решений.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270248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3342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334256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МОНТАЖ СИСТЕМЫ ОТОПЛЕНИЯ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572000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Прокладка трубопроводов, установка радиаторов и запорно-регулирующей арматуры. Подготовка к последующей опрессовке.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" y="5468112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5532120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32120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ОПРЕССОВКА САНТЕХНИЧЕСКОЙ СИСТЕМЫ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5769864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Гидравлические испытания под рабочим давлением. Проверка герметичности системы перед закрытием коммуникаций.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5468112"/>
            <a:ext cx="5577840" cy="1463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532120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965A"/>
                </a:solidFill>
                <a:latin typeface="Cormorant Garamond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532120"/>
            <a:ext cx="5166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714"/>
                </a:solidFill>
                <a:latin typeface="Inter"/>
              </a:rPr>
              <a:t>СТЯЖКА ПОЛА, ШУМОИЗОЛЯЦИЯ И ТЕХНОЛОГИЧЕСКИЙ УХОД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769864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5C50"/>
                </a:solidFill>
                <a:latin typeface="Inter"/>
              </a:rPr>
              <a:t>Заливка ровного основания под финишное покрытие. Укладка шумоизоляции. Уход для защиты от трещин (увлажнение, защита от сквозняков).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68735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0A898"/>
                </a:solidFill>
                <a:latin typeface="Inter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